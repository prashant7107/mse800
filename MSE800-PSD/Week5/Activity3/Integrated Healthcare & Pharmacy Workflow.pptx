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Poppins SemiBold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</p:embeddedFont>
    <p:embeddedFont>
      <p:font typeface="Poppins" panose="020B060402020202020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9437F1-E80B-4E4C-AF36-BF49831DB218}">
  <a:tblStyle styleId="{699437F1-E80B-4E4C-AF36-BF49831DB2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73737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092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897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503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438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0738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8197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2662"/>
            <a:ext cx="2547937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252662"/>
            <a:ext cx="2547937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252662"/>
            <a:ext cx="2547937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2562" y="2252662"/>
            <a:ext cx="2547937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07851" y="3414712"/>
            <a:ext cx="187523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Patient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3957637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Initiates scheduling and medication requests; the primary beneficiary.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41539" y="3414712"/>
            <a:ext cx="187523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Doctor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786187" y="3957637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Determines medical necessity and triggers automated prescriptions.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575226" y="3414712"/>
            <a:ext cx="187523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Reception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19875" y="3957637"/>
            <a:ext cx="1785937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Manages calendar availability, payments, and record keeping.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408914" y="3414712"/>
            <a:ext cx="187523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Pharmacy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453562" y="3957637"/>
            <a:ext cx="17859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Validates stock, processes orders, and manages dispensing.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8293" y="27289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79131" y="27289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12818" y="27289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75081" y="2728912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Primary Actors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24907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Initiation &amp; Validation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30337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Patient Trigger: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Requests appointment via booking portal.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2500" y="3529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Availability Check: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Reception checks real-time slot status.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4024300"/>
            <a:ext cx="6789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Conditional Logic: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Offering alternatives if primary slots are occupied.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52500" y="4445812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Confirmation: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Final slot selection and details verification.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1: SCHEDULING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33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90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24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6130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175" y="17528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381750" y="25669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The Prescription Trigger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198800" y="3109900"/>
            <a:ext cx="5739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During the consultation, the doctor performs a critical decision point:</a:t>
            </a:r>
            <a:endParaRPr sz="1500">
              <a:solidFill>
                <a:srgbClr val="4450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Is medication required?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455225" y="4033600"/>
            <a:ext cx="5854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If YES, the system automatically initiates a medication order, routing data to the Reception for recording and Pharmacy for fulfillment.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81750" y="4957312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This automat</a:t>
            </a:r>
            <a:r>
              <a:rPr lang="en-US" sz="1500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ion 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eliminates manual entry errors and reduces patient wait times.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2: CLINICAL CONSULTATION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762000"/>
            <a:ext cx="500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3: </a:t>
            </a:r>
            <a:r>
              <a:rPr lang="en-US" sz="3000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MEDICATION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7620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17145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Behind the Counter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2257425"/>
            <a:ext cx="672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The Pharmacy </a:t>
            </a:r>
            <a:r>
              <a:rPr lang="en-US" sz="1500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focuses 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on inventory management and patient notification.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28670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Verification of prescription details.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33623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Stock level validation (Real-time).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52500" y="3857625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Order preparation.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52500" y="43529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Final handoff to patient.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70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57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29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571500" y="2528887"/>
            <a:ext cx="11049000" cy="2752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571500" y="25288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{699437F1-E80B-4E4C-AF36-BF49831DB218}</a:tableStyleId>
              </a:tblPr>
              <a:tblGrid>
                <a:gridCol w="2838600"/>
                <a:gridCol w="4011525"/>
                <a:gridCol w="4198875"/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Process Step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Appointment Payment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Pharmacy Payment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62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Slot &amp; Details Confirmed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 Availability Verified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Selection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Cash / Digital / Insurance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In-store or Pre-paid Digital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Failure Handling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Reception Manual Override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Pharmacy Transaction Retry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Booking Receipt Generated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Fulfillment Receipt Generated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7"/>
          <p:cNvSpPr/>
          <p:nvPr/>
        </p:nvSpPr>
        <p:spPr>
          <a:xfrm>
            <a:off x="571500" y="3667125"/>
            <a:ext cx="28385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410098" y="3667125"/>
            <a:ext cx="401151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421612" y="3667125"/>
            <a:ext cx="41988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4200525"/>
            <a:ext cx="28385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410098" y="4200525"/>
            <a:ext cx="401151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421612" y="4200525"/>
            <a:ext cx="41988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4733925"/>
            <a:ext cx="28385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410098" y="4733925"/>
            <a:ext cx="401151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421612" y="4733925"/>
            <a:ext cx="41988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5267325"/>
            <a:ext cx="28385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410098" y="5267325"/>
            <a:ext cx="401151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421612" y="5267325"/>
            <a:ext cx="41988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PAYMENT WORKFLOW LOGIC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0837"/>
            <a:ext cx="5238750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90837"/>
            <a:ext cx="52387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57250" y="3176587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Stock Scenarios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37195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If medication is unavailable, the Pharmacy triggers a </a:t>
            </a: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"Notify of Unavailability"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event. This prevents patient frustration by managing expectations early.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3176587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Payment Failures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667500" y="3719512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In cases of transaction failure, the workflow routes to </a:t>
            </a:r>
            <a:r>
              <a:rPr lang="en-US" sz="1500" b="1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"Handle Failure"</a:t>
            </a:r>
            <a:r>
              <a:rPr lang="en-US" sz="1500" b="0" i="0" u="none" strike="noStrike" cap="none">
                <a:solidFill>
                  <a:srgbClr val="445069"/>
                </a:solidFill>
                <a:latin typeface="Lato"/>
                <a:ea typeface="Lato"/>
                <a:cs typeface="Lato"/>
                <a:sym typeface="Lato"/>
              </a:rPr>
              <a:t> modules. These include log errors, notifying users, and allowing retries.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2D6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RESILIENCE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Widescreen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Poppins SemiBold</vt:lpstr>
      <vt:lpstr>Arial</vt:lpstr>
      <vt:lpstr>Lato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 Bajracharya</dc:creator>
  <cp:lastModifiedBy>User</cp:lastModifiedBy>
  <cp:revision>1</cp:revision>
  <dcterms:modified xsi:type="dcterms:W3CDTF">2026-05-10T00:42:14Z</dcterms:modified>
</cp:coreProperties>
</file>